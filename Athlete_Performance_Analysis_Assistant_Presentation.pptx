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5549280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Archana A 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adarchana72@gmail.com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7034072601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Sports Analytics / Healthcare / Artificial Intelligence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IN" sz="2400" dirty="0"/>
              <a:t>AI-Powered Athlete Performance Analysis Assistant</a:t>
            </a:r>
            <a:endParaRPr lang="en-IN" sz="2400" b="1" dirty="0">
              <a:highlight>
                <a:srgbClr val="FFFF00"/>
              </a:highlight>
            </a:endParaRPr>
          </a:p>
        </p:txBody>
      </p:sp>
      <p:pic>
        <p:nvPicPr>
          <p:cNvPr id="5" name="Picture 4">
            <a:extLst>
              <a:ext uri="{FF2B5EF4-FFF2-40B4-BE49-F238E27FC236}">
                <a16:creationId xmlns:a16="http://schemas.microsoft.com/office/drawing/2014/main" id="{60C283BC-A57C-7B30-7D8D-53312BC63572}"/>
              </a:ext>
            </a:extLst>
          </p:cNvPr>
          <p:cNvPicPr>
            <a:picLocks noChangeAspect="1"/>
          </p:cNvPicPr>
          <p:nvPr/>
        </p:nvPicPr>
        <p:blipFill>
          <a:blip r:embed="rId3"/>
          <a:stretch>
            <a:fillRect/>
          </a:stretch>
        </p:blipFill>
        <p:spPr>
          <a:xfrm rot="10800000" flipV="1">
            <a:off x="4168409" y="3612683"/>
            <a:ext cx="787047" cy="10119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b="1" dirty="0"/>
              <a:t>Problem Statement : </a:t>
            </a:r>
            <a:r>
              <a:rPr lang="en-IN" dirty="0"/>
              <a:t>Athlete Performance Analysis Assistant</a:t>
            </a:r>
            <a:endParaRPr lang="en-US" dirty="0"/>
          </a:p>
          <a:p>
            <a:pPr fontAlgn="base"/>
            <a:endParaRPr lang="en-US" b="1" dirty="0"/>
          </a:p>
          <a:p>
            <a:pPr fontAlgn="base"/>
            <a:r>
              <a:rPr lang="en-US" b="1" dirty="0"/>
              <a:t>The Challenge</a:t>
            </a:r>
            <a:r>
              <a:rPr lang="en-US" dirty="0"/>
              <a:t> </a:t>
            </a:r>
          </a:p>
          <a:p>
            <a:pPr fontAlgn="base"/>
            <a:r>
              <a:rPr lang="en-IN" dirty="0"/>
              <a:t>Athletes generate large amounts of performance data during training sessions and competitions, including fitness metrics, match statistics, endurance levels, speed, workload indicators, and recovery information. Coaches often find it difficult to transform this raw data into meaningful insights that help improve athlete performance. Existing systems mainly store performance data but provide limited intelligent analysis and personalized recommendations. Without AI-driven assistance, identifying strengths, weaknesses, injury risks, and performance trends becomes time-consuming and less effective.</a:t>
            </a:r>
            <a:endParaRPr lang="en-US" dirty="0"/>
          </a:p>
          <a:p>
            <a:pPr fontAlgn="base"/>
            <a:r>
              <a:rPr lang="en-US" b="1" dirty="0"/>
              <a:t>The Objective</a:t>
            </a:r>
            <a:r>
              <a:rPr lang="en-US" dirty="0"/>
              <a:t> </a:t>
            </a:r>
          </a:p>
          <a:p>
            <a:pPr fontAlgn="base"/>
            <a:r>
              <a:rPr lang="en-IN" dirty="0"/>
              <a:t>Build an </a:t>
            </a:r>
            <a:r>
              <a:rPr lang="en-IN" b="1" dirty="0"/>
              <a:t>AI-powered Athlete Performance Analysis Assistant</a:t>
            </a:r>
            <a:r>
              <a:rPr lang="en-IN" dirty="0"/>
              <a:t> that evaluates athlete performance using training records, fitness metrics, and match statistics. The solution should:</a:t>
            </a:r>
          </a:p>
          <a:p>
            <a:pPr marL="285750" indent="-285750" fontAlgn="base">
              <a:buFont typeface="Arial" panose="020B0604020202020204" pitchFamily="34" charset="0"/>
              <a:buChar char="•"/>
            </a:pPr>
            <a:r>
              <a:rPr lang="en-IN" b="1" dirty="0"/>
              <a:t>Performance Data Retrieval (RAG):</a:t>
            </a:r>
            <a:r>
              <a:rPr lang="en-IN" dirty="0"/>
              <a:t> Collect athlete statistics, training records, fitness metrics, and sports knowledge from trusted sources.</a:t>
            </a:r>
          </a:p>
          <a:p>
            <a:pPr marL="285750" indent="-285750" fontAlgn="base">
              <a:buFont typeface="Arial" panose="020B0604020202020204" pitchFamily="34" charset="0"/>
              <a:buChar char="•"/>
            </a:pPr>
            <a:r>
              <a:rPr lang="en-IN" b="1" dirty="0"/>
              <a:t>Performance Trend Analysis:</a:t>
            </a:r>
            <a:r>
              <a:rPr lang="en-IN" dirty="0"/>
              <a:t> </a:t>
            </a:r>
            <a:r>
              <a:rPr lang="en-IN" dirty="0" err="1"/>
              <a:t>Analyze</a:t>
            </a:r>
            <a:r>
              <a:rPr lang="en-IN" dirty="0"/>
              <a:t> historical and current performance to identify strengths, weaknesses, and improvement opportunities.</a:t>
            </a:r>
            <a:r>
              <a:rPr lang="en-US" dirty="0"/>
              <a:t> </a:t>
            </a:r>
          </a:p>
          <a:p>
            <a:pPr marL="285750" indent="-285750" fontAlgn="base">
              <a:buFont typeface="Arial" panose="020B0604020202020204" pitchFamily="34" charset="0"/>
              <a:buChar char="•"/>
            </a:pPr>
            <a:r>
              <a:rPr lang="en-IN" b="1" dirty="0"/>
              <a:t>Training Recommendation Agent:</a:t>
            </a:r>
            <a:r>
              <a:rPr lang="en-IN" dirty="0"/>
              <a:t> Generate personalized training schedules, recovery plans, and fitness recommendations based on athlete performance.</a:t>
            </a:r>
          </a:p>
          <a:p>
            <a:pPr marL="285750" indent="-285750" fontAlgn="base">
              <a:buFont typeface="Arial" panose="020B0604020202020204" pitchFamily="34" charset="0"/>
              <a:buChar char="•"/>
            </a:pPr>
            <a:r>
              <a:rPr lang="en-US" b="1" dirty="0"/>
              <a:t>Multi-Agent System</a:t>
            </a:r>
            <a:r>
              <a:rPr lang="en-US" dirty="0"/>
              <a:t> :</a:t>
            </a:r>
          </a:p>
          <a:p>
            <a:pPr marL="285750" indent="-285750" fontAlgn="base">
              <a:buFont typeface="Arial" panose="020B0604020202020204" pitchFamily="34" charset="0"/>
              <a:buChar char="•"/>
            </a:pPr>
            <a:r>
              <a:rPr lang="en-IN" dirty="0"/>
              <a:t>Athlete Data Agent</a:t>
            </a:r>
          </a:p>
          <a:p>
            <a:pPr marL="285750" indent="-285750" fontAlgn="base">
              <a:buFont typeface="Arial" panose="020B0604020202020204" pitchFamily="34" charset="0"/>
              <a:buChar char="•"/>
            </a:pPr>
            <a:r>
              <a:rPr lang="en-IN" dirty="0"/>
              <a:t>Performance Analysis Agent</a:t>
            </a:r>
          </a:p>
          <a:p>
            <a:pPr marL="285750" indent="-285750" fontAlgn="base">
              <a:buFont typeface="Arial" panose="020B0604020202020204" pitchFamily="34" charset="0"/>
              <a:buChar char="•"/>
            </a:pPr>
            <a:r>
              <a:rPr lang="en-IN" dirty="0"/>
              <a:t>Training Recommendation Agent</a:t>
            </a:r>
          </a:p>
          <a:p>
            <a:pPr marL="285750" indent="-285750" fontAlgn="base">
              <a:buFont typeface="Arial" panose="020B0604020202020204" pitchFamily="34" charset="0"/>
              <a:buChar char="•"/>
            </a:pPr>
            <a:r>
              <a:rPr lang="en-IN" dirty="0"/>
              <a:t>Coaching Insight Agent</a:t>
            </a:r>
          </a:p>
          <a:p>
            <a:pPr marL="285750" indent="-285750" fontAlgn="base">
              <a:buFont typeface="Arial" panose="020B0604020202020204" pitchFamily="34" charset="0"/>
              <a:buChar char="•"/>
            </a:pPr>
            <a:r>
              <a:rPr lang="en-US" b="1" dirty="0"/>
              <a:t>Visualization Dashboard</a:t>
            </a:r>
            <a:r>
              <a:rPr lang="en-US" dirty="0"/>
              <a:t> – </a:t>
            </a:r>
            <a:r>
              <a:rPr lang="en-IN" dirty="0"/>
              <a:t>Display athlete performance trends, fitness metrics, progress charts, comparisons, and personalized recommendations.</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758318"/>
            <a:ext cx="10607040" cy="6124754"/>
          </a:xfrm>
          <a:prstGeom prst="rect">
            <a:avLst/>
          </a:prstGeom>
          <a:noFill/>
        </p:spPr>
        <p:txBody>
          <a:bodyPr wrap="square" rtlCol="0">
            <a:spAutoFit/>
          </a:bodyPr>
          <a:lstStyle/>
          <a:p>
            <a:pPr fontAlgn="base"/>
            <a:endParaRPr lang="en-US" b="1" dirty="0"/>
          </a:p>
          <a:p>
            <a:r>
              <a:rPr lang="en-US" b="1" dirty="0"/>
              <a:t>Proposed Solution: </a:t>
            </a:r>
            <a:r>
              <a:rPr lang="en-IN" b="1" dirty="0"/>
              <a:t>AI-Powered Athlete Performance Analysis Assistant</a:t>
            </a:r>
          </a:p>
          <a:p>
            <a:r>
              <a:rPr lang="en-IN" dirty="0"/>
              <a:t>The proposed solution is a </a:t>
            </a:r>
            <a:r>
              <a:rPr lang="en-IN" b="1" dirty="0"/>
              <a:t>multi-agent AI-powered Athlete Performance Analysis Assistant</a:t>
            </a:r>
            <a:r>
              <a:rPr lang="en-IN" dirty="0"/>
              <a:t> built using </a:t>
            </a:r>
            <a:r>
              <a:rPr lang="en-IN" b="1" dirty="0"/>
              <a:t>IBM </a:t>
            </a:r>
            <a:r>
              <a:rPr lang="en-IN" b="1" dirty="0" err="1"/>
              <a:t>watsonx</a:t>
            </a:r>
            <a:r>
              <a:rPr lang="en-IN" b="1" dirty="0"/>
              <a:t> Orchestrate, </a:t>
            </a:r>
            <a:r>
              <a:rPr lang="en-IN" b="1" dirty="0" err="1"/>
              <a:t>LangFlow</a:t>
            </a:r>
            <a:r>
              <a:rPr lang="en-IN" b="1" dirty="0"/>
              <a:t>, IBM Granite Models, and Retrieval-Augmented Generation (RAG)</a:t>
            </a:r>
            <a:r>
              <a:rPr lang="en-IN" dirty="0"/>
              <a:t> to help athletes and coaches </a:t>
            </a:r>
            <a:r>
              <a:rPr lang="en-IN" dirty="0" err="1"/>
              <a:t>analyze</a:t>
            </a:r>
            <a:r>
              <a:rPr lang="en-IN" dirty="0"/>
              <a:t> performance, identify improvement areas, and make informed training decisions.</a:t>
            </a:r>
          </a:p>
          <a:p>
            <a:r>
              <a:rPr lang="en-IN" dirty="0"/>
              <a:t>The system addresses the challenges of </a:t>
            </a:r>
            <a:r>
              <a:rPr lang="en-IN" dirty="0" err="1"/>
              <a:t>analyzing</a:t>
            </a:r>
            <a:r>
              <a:rPr lang="en-IN" dirty="0"/>
              <a:t> athlete performance by combining </a:t>
            </a:r>
            <a:r>
              <a:rPr lang="en-IN" b="1" dirty="0"/>
              <a:t>training records, fitness metrics, match statistics, and sports science knowledge</a:t>
            </a:r>
            <a:r>
              <a:rPr lang="en-IN" dirty="0"/>
              <a:t> into one intelligent platform.</a:t>
            </a:r>
          </a:p>
          <a:p>
            <a:r>
              <a:rPr lang="en-IN" dirty="0"/>
              <a:t>At its core, the solution uses a </a:t>
            </a:r>
            <a:r>
              <a:rPr lang="en-IN" b="1" dirty="0"/>
              <a:t>Retrieval-Augmented Generation (RAG)</a:t>
            </a:r>
            <a:r>
              <a:rPr lang="en-IN" dirty="0"/>
              <a:t> pipeline to retrieve relevant information from trusted sports science resources, coaching manuals, and athlete performance datasets. These documents are stored in a </a:t>
            </a:r>
            <a:r>
              <a:rPr lang="en-IN" b="1" dirty="0"/>
              <a:t>vector database</a:t>
            </a:r>
            <a:r>
              <a:rPr lang="en-IN" dirty="0"/>
              <a:t>, allowing the Granite model to provide accurate, context-aware recommendations instead of relying only on general AI knowledge.</a:t>
            </a:r>
          </a:p>
          <a:p>
            <a:r>
              <a:rPr lang="en-IN" dirty="0"/>
              <a:t>The system consists of four specialized agents:</a:t>
            </a:r>
          </a:p>
          <a:p>
            <a:r>
              <a:rPr lang="en-IN" b="1" dirty="0"/>
              <a:t>• Athlete Data Agent</a:t>
            </a:r>
            <a:r>
              <a:rPr lang="en-IN" dirty="0"/>
              <a:t> – Collects and organizes athlete profiles, training records, fitness metrics, wearable device data, and match statistics.</a:t>
            </a:r>
          </a:p>
          <a:p>
            <a:r>
              <a:rPr lang="en-IN" b="1" dirty="0"/>
              <a:t>• Performance Analysis Agent</a:t>
            </a:r>
            <a:r>
              <a:rPr lang="en-IN" dirty="0"/>
              <a:t> – Evaluates athlete performance, identifies trends, measures progress, and highlights strengths and weaknesses.</a:t>
            </a:r>
          </a:p>
          <a:p>
            <a:r>
              <a:rPr lang="en-IN" b="1" dirty="0"/>
              <a:t>• Training Recommendation Agent</a:t>
            </a:r>
            <a:r>
              <a:rPr lang="en-IN" dirty="0"/>
              <a:t> – Generates personalized workout schedules, recovery strategies, endurance improvement plans, and injury prevention recommendations based on the athlete's performance.</a:t>
            </a:r>
          </a:p>
          <a:p>
            <a:r>
              <a:rPr lang="en-IN" b="1" dirty="0"/>
              <a:t>• Coaching Insight Agent</a:t>
            </a:r>
            <a:r>
              <a:rPr lang="en-IN" dirty="0"/>
              <a:t> – Produces detailed coaching reports, summarizes athlete progress, compares historical performance, and provides AI-powered coaching insights.</a:t>
            </a:r>
          </a:p>
          <a:p>
            <a:r>
              <a:rPr lang="en-IN" dirty="0"/>
              <a:t>The solution includes a </a:t>
            </a:r>
            <a:r>
              <a:rPr lang="en-IN" b="1" dirty="0"/>
              <a:t>user-friendly dashboard</a:t>
            </a:r>
            <a:r>
              <a:rPr lang="en-IN" dirty="0"/>
              <a:t> built using </a:t>
            </a:r>
            <a:r>
              <a:rPr lang="en-IN" b="1" dirty="0"/>
              <a:t>React or </a:t>
            </a:r>
            <a:r>
              <a:rPr lang="en-IN" b="1" dirty="0" err="1"/>
              <a:t>Streamlit</a:t>
            </a:r>
            <a:r>
              <a:rPr lang="en-IN" dirty="0"/>
              <a:t>, where coaches and athletes can visualize performance trends, fitness scores, workload analysis, progress charts, and personalized recommendations.</a:t>
            </a:r>
          </a:p>
          <a:p>
            <a:r>
              <a:rPr lang="en-IN" b="1" dirty="0"/>
              <a:t>IBM </a:t>
            </a:r>
            <a:r>
              <a:rPr lang="en-IN" b="1" dirty="0" err="1"/>
              <a:t>watsonx</a:t>
            </a:r>
            <a:r>
              <a:rPr lang="en-IN" b="1" dirty="0"/>
              <a:t> Orchestrate</a:t>
            </a:r>
            <a:r>
              <a:rPr lang="en-IN" dirty="0"/>
              <a:t> manages the workflow between multiple agents, while </a:t>
            </a:r>
            <a:r>
              <a:rPr lang="en-IN" b="1" dirty="0"/>
              <a:t>IBM Granite Models</a:t>
            </a:r>
            <a:r>
              <a:rPr lang="en-IN" dirty="0"/>
              <a:t> perform reasoning, summarization, and intelligent decision-making. </a:t>
            </a:r>
            <a:r>
              <a:rPr lang="en-IN" b="1" dirty="0" err="1"/>
              <a:t>LangFlow</a:t>
            </a:r>
            <a:r>
              <a:rPr lang="en-IN" dirty="0"/>
              <a:t> simplifies the creation and orchestration of the multi-agent workflow, making the system modular, scalable, and easy to maintain.</a:t>
            </a:r>
          </a:p>
          <a:p>
            <a:r>
              <a:rPr lang="en-IN" dirty="0"/>
              <a:t>Overall, the proposed solution acts as an </a:t>
            </a:r>
            <a:r>
              <a:rPr lang="en-IN" b="1" dirty="0"/>
              <a:t>intelligent sports performance assistant</a:t>
            </a:r>
            <a:r>
              <a:rPr lang="en-IN" dirty="0"/>
              <a:t> that empowers athletes and coaches with data-driven insights, personalized training recommendations, and continuous performance monitoring to achieve better athletic performance.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28646"/>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b="1" dirty="0"/>
              <a:t>IBM </a:t>
            </a:r>
            <a:r>
              <a:rPr lang="en-IN" sz="1800" b="1" dirty="0" err="1"/>
              <a:t>watsonx</a:t>
            </a:r>
            <a:r>
              <a:rPr lang="en-IN" sz="1800" b="1" dirty="0"/>
              <a:t> Orchestrate</a:t>
            </a:r>
            <a:r>
              <a:rPr lang="en-IN" sz="1800" dirty="0"/>
              <a:t> – Used to build and manage the AI-powered multi-agent workflow. It coordinates the Athlete Data Agent, Performance Analysis Agent, Training Recommendation Agent, and Coaching Insight Agent.</a:t>
            </a:r>
            <a:endParaRPr lang="en-US" sz="1800" dirty="0"/>
          </a:p>
          <a:p>
            <a:pPr marL="285750" indent="-285750">
              <a:buFont typeface="Arial" panose="020B0604020202020204" pitchFamily="34" charset="0"/>
              <a:buChar char="•"/>
            </a:pPr>
            <a:r>
              <a:rPr lang="en-IN" sz="1800" b="1" dirty="0"/>
              <a:t>IBM Granite Model (Granite-4.0-8B-Instruct)</a:t>
            </a:r>
            <a:r>
              <a:rPr lang="en-IN" sz="1800" dirty="0"/>
              <a:t> – Used for natural language understanding, reasoning, performance analysis, report generation, and personalized training recommendations.</a:t>
            </a:r>
            <a:endParaRPr lang="en-US" sz="1800" dirty="0"/>
          </a:p>
          <a:p>
            <a:pPr marL="285750" indent="-285750">
              <a:buFont typeface="Arial" panose="020B0604020202020204" pitchFamily="34" charset="0"/>
              <a:buChar char="•"/>
            </a:pPr>
            <a:r>
              <a:rPr lang="en-IN" sz="1800" b="1" dirty="0"/>
              <a:t>IBM Cloud</a:t>
            </a:r>
            <a:r>
              <a:rPr lang="en-IN" sz="1800" dirty="0"/>
              <a:t> – Provides a secure, reliable, and scalable cloud platform to deploy and manage the Athlete Performance Analysis Assistant.</a:t>
            </a:r>
            <a:endParaRPr lang="en-US" sz="1800" dirty="0"/>
          </a:p>
          <a:p>
            <a:pPr marL="285750" indent="-285750">
              <a:buFont typeface="Arial" panose="020B0604020202020204" pitchFamily="34" charset="0"/>
              <a:buChar char="•"/>
            </a:pPr>
            <a:r>
              <a:rPr lang="en-US" sz="1800" b="1" dirty="0"/>
              <a:t>RAG– </a:t>
            </a:r>
            <a:r>
              <a:rPr lang="en-IN" sz="1800" dirty="0"/>
              <a:t>Retrieves athlete training guides, sports science research papers, fitness manuals, and coaching documents from trusted sources to generate accurate and context-aware responses.</a:t>
            </a:r>
            <a:endParaRPr lang="en-US" sz="1800" dirty="0"/>
          </a:p>
          <a:p>
            <a:pPr marL="285750" indent="-285750">
              <a:buFont typeface="Arial" panose="020B0604020202020204" pitchFamily="34" charset="0"/>
              <a:buChar char="•"/>
            </a:pPr>
            <a:r>
              <a:rPr lang="en-US" sz="1800" b="1" dirty="0"/>
              <a:t>IBM Watsonx.ai - </a:t>
            </a:r>
            <a:r>
              <a:rPr lang="en-IN" sz="1800" dirty="0"/>
              <a:t>Used for AI model deployment, embeddings, prompt engineering, and AI governance.</a:t>
            </a:r>
            <a:endParaRPr lang="en-US" sz="1800" dirty="0"/>
          </a:p>
          <a:p>
            <a:pPr marL="285750" indent="-285750">
              <a:buFont typeface="Arial" panose="020B0604020202020204" pitchFamily="34" charset="0"/>
              <a:buChar char="•"/>
            </a:pPr>
            <a:r>
              <a:rPr lang="en-IN" sz="1800" b="1" dirty="0"/>
              <a:t>Vector Database </a:t>
            </a:r>
            <a:r>
              <a:rPr lang="en-IN" sz="1800" dirty="0"/>
              <a:t>(FAISS/Chroma) – Stores embeddings of sports science documents, athlete performance data, coaching manuals, and fitness resources for efficient semantic retrieval.</a:t>
            </a:r>
          </a:p>
          <a:p>
            <a:pPr marL="285750" indent="-285750">
              <a:buFont typeface="Arial" panose="020B0604020202020204" pitchFamily="34" charset="0"/>
              <a:buChar char="•"/>
            </a:pPr>
            <a:r>
              <a:rPr lang="en-IN" sz="1800" b="1" dirty="0" err="1"/>
              <a:t>LangFlow</a:t>
            </a:r>
            <a:r>
              <a:rPr lang="en-IN" sz="1800" dirty="0"/>
              <a:t> – Provides a visual interface for designing, connecting, and orchestrating the multi-agent workflow with IBM Granite Models.</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537590" y="845562"/>
            <a:ext cx="10870957" cy="6986528"/>
          </a:xfrm>
          <a:prstGeom prst="rect">
            <a:avLst/>
          </a:prstGeom>
          <a:noFill/>
        </p:spPr>
        <p:txBody>
          <a:bodyPr wrap="square" rtlCol="0">
            <a:spAutoFit/>
          </a:bodyPr>
          <a:lstStyle/>
          <a:p>
            <a:endParaRPr lang="en-US" dirty="0"/>
          </a:p>
          <a:p>
            <a:r>
              <a:rPr lang="en-US" b="1" dirty="0"/>
              <a:t>1) Chat Input </a:t>
            </a:r>
            <a:r>
              <a:rPr lang="en-US" dirty="0"/>
              <a:t>– </a:t>
            </a:r>
            <a:r>
              <a:rPr lang="en-IN" dirty="0"/>
              <a:t>Provides the interface where athletes or coaches enter queries, training records, fitness metrics, or match statistics through text input.</a:t>
            </a:r>
          </a:p>
          <a:p>
            <a:pPr marL="342900" indent="-342900">
              <a:buAutoNum type="arabicParenR"/>
            </a:pPr>
            <a:endParaRPr lang="en-US" dirty="0"/>
          </a:p>
          <a:p>
            <a:r>
              <a:rPr lang="en-US" b="1" dirty="0"/>
              <a:t>2) IBM </a:t>
            </a:r>
            <a:r>
              <a:rPr lang="en-US" b="1" dirty="0" err="1"/>
              <a:t>watsonx</a:t>
            </a:r>
            <a:r>
              <a:rPr lang="en-US" b="1" dirty="0"/>
              <a:t> AI Agent </a:t>
            </a:r>
            <a:r>
              <a:rPr lang="en-US" dirty="0"/>
              <a:t>- </a:t>
            </a:r>
            <a:r>
              <a:rPr lang="en-IN" dirty="0"/>
              <a:t>Processes athlete data using IBM Granite Models to </a:t>
            </a:r>
            <a:r>
              <a:rPr lang="en-IN" dirty="0" err="1"/>
              <a:t>analyze</a:t>
            </a:r>
            <a:r>
              <a:rPr lang="en-IN" dirty="0"/>
              <a:t> performance, identify strengths and weaknesses, and generate intelligent coaching insights.</a:t>
            </a:r>
            <a:endParaRPr lang="en-US" dirty="0"/>
          </a:p>
          <a:p>
            <a:endParaRPr lang="en-US" dirty="0"/>
          </a:p>
          <a:p>
            <a:r>
              <a:rPr lang="en-US" b="1" dirty="0"/>
              <a:t>3) IBM Granite model - </a:t>
            </a:r>
            <a:r>
              <a:rPr lang="en-US" dirty="0"/>
              <a:t>Granite-4.0-8B-Instruct → </a:t>
            </a:r>
            <a:r>
              <a:rPr lang="en-IN" dirty="0"/>
              <a:t>Performs natural language understanding, performance analysis, reasoning, report generation, and personalized training recommendations.</a:t>
            </a:r>
          </a:p>
          <a:p>
            <a:endParaRPr lang="en-IN" dirty="0"/>
          </a:p>
          <a:p>
            <a:r>
              <a:rPr lang="en-US" b="1" dirty="0"/>
              <a:t>4) Chat output -</a:t>
            </a:r>
            <a:r>
              <a:rPr lang="en-IN" dirty="0"/>
              <a:t>Displays AI-generated responses such as performance reports, trend analysis, coaching insights, recovery plans, and personalized training recommendations.</a:t>
            </a:r>
            <a:endParaRPr lang="en-US" dirty="0"/>
          </a:p>
          <a:p>
            <a:endParaRPr lang="en-US" dirty="0"/>
          </a:p>
          <a:p>
            <a:r>
              <a:rPr lang="en-US" b="1" dirty="0"/>
              <a:t>5)</a:t>
            </a:r>
            <a:r>
              <a:rPr lang="en-IN" b="1" dirty="0"/>
              <a:t> File Component - </a:t>
            </a:r>
            <a:r>
              <a:rPr lang="en-IN" dirty="0"/>
              <a:t>Stores and retrieves athlete profiles, training records, fitness metrics, match statistics, and sports science documents used for Retrieval-Augmented Generation (RAG).</a:t>
            </a:r>
            <a:endParaRPr lang="en-US" dirty="0"/>
          </a:p>
          <a:p>
            <a:endParaRPr lang="en-US" dirty="0"/>
          </a:p>
          <a:p>
            <a:r>
              <a:rPr lang="en-US" b="1" dirty="0"/>
              <a:t>6)</a:t>
            </a:r>
            <a:r>
              <a:rPr lang="en-IN" b="1" dirty="0"/>
              <a:t> Vector Store (FAISS / </a:t>
            </a:r>
            <a:r>
              <a:rPr lang="en-IN" b="1" dirty="0" err="1"/>
              <a:t>ChromaDB</a:t>
            </a:r>
            <a:r>
              <a:rPr lang="en-IN" b="1" dirty="0"/>
              <a:t>) - </a:t>
            </a:r>
            <a:r>
              <a:rPr lang="en-IN" dirty="0"/>
              <a:t>Stores document embeddings of sports science research papers, coaching manuals, fitness guidelines, and athlete performance data for semantic search and accurate knowledge retrieval.</a:t>
            </a:r>
          </a:p>
          <a:p>
            <a:endParaRPr lang="en-IN" dirty="0"/>
          </a:p>
          <a:p>
            <a:r>
              <a:rPr lang="en-IN" b="1" dirty="0"/>
              <a:t>7</a:t>
            </a:r>
            <a:r>
              <a:rPr lang="en-US" b="1" dirty="0"/>
              <a:t> ) </a:t>
            </a:r>
            <a:r>
              <a:rPr lang="en-IN" b="1" dirty="0"/>
              <a:t>RAG Retriever - </a:t>
            </a:r>
            <a:r>
              <a:rPr lang="en-IN" dirty="0"/>
              <a:t>Retrieves the most relevant information from the vector database before sending it to the Granite model, ensuring accurate and context-aware responses.</a:t>
            </a:r>
          </a:p>
          <a:p>
            <a:endParaRPr lang="en-IN" dirty="0"/>
          </a:p>
          <a:p>
            <a:r>
              <a:rPr lang="en-IN" b="1" dirty="0"/>
              <a:t>8) Prompt Component - </a:t>
            </a:r>
            <a:r>
              <a:rPr lang="en-IN" dirty="0"/>
              <a:t>Provides structured prompts that guide the AI model to generate athlete-specific performance analysis, coaching reports, and personalized training strategies.</a:t>
            </a: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701169"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7" y="916795"/>
            <a:ext cx="8018807" cy="5693866"/>
          </a:xfrm>
          <a:prstGeom prst="rect">
            <a:avLst/>
          </a:prstGeom>
          <a:noFill/>
        </p:spPr>
        <p:txBody>
          <a:bodyPr wrap="square" rtlCol="0">
            <a:spAutoFit/>
          </a:bodyPr>
          <a:lstStyle/>
          <a:p>
            <a:r>
              <a:rPr lang="en-IN" b="1" dirty="0"/>
              <a:t>Role of Agentic AI in Athlete Performance Analysis Assistant</a:t>
            </a:r>
          </a:p>
          <a:p>
            <a:r>
              <a:rPr lang="en-IN" dirty="0"/>
              <a:t>Agentic AI enables the </a:t>
            </a:r>
            <a:r>
              <a:rPr lang="en-IN" b="1" dirty="0"/>
              <a:t>Athlete Performance Analysis Assistant</a:t>
            </a:r>
            <a:r>
              <a:rPr lang="en-IN" dirty="0"/>
              <a:t> to function as an intelligent and autonomous sports analytics system rather than a traditional chatbot. Using </a:t>
            </a:r>
            <a:r>
              <a:rPr lang="en-IN" b="1" dirty="0"/>
              <a:t>IBM watsonx.ai, IBM </a:t>
            </a:r>
            <a:r>
              <a:rPr lang="en-IN" b="1" dirty="0" err="1"/>
              <a:t>watsonx</a:t>
            </a:r>
            <a:r>
              <a:rPr lang="en-IN" b="1" dirty="0"/>
              <a:t> Orchestrate, </a:t>
            </a:r>
            <a:r>
              <a:rPr lang="en-IN" b="1" dirty="0" err="1"/>
              <a:t>LangFlow</a:t>
            </a:r>
            <a:r>
              <a:rPr lang="en-IN" b="1" dirty="0"/>
              <a:t>, and IBM Granite Models</a:t>
            </a:r>
            <a:r>
              <a:rPr lang="en-IN" dirty="0"/>
              <a:t>, the solution coordinates multiple specialized AI agents to </a:t>
            </a:r>
            <a:r>
              <a:rPr lang="en-IN" dirty="0" err="1"/>
              <a:t>analyze</a:t>
            </a:r>
            <a:r>
              <a:rPr lang="en-IN" dirty="0"/>
              <a:t> athlete performance and deliver personalized coaching insights.</a:t>
            </a:r>
          </a:p>
          <a:p>
            <a:r>
              <a:rPr lang="en-IN" dirty="0"/>
              <a:t>Each agent performs a dedicated task while collaborating with other agents to achieve the overall objective.</a:t>
            </a:r>
          </a:p>
          <a:p>
            <a:pPr marL="285750" indent="-285750">
              <a:buFont typeface="Arial" panose="020B0604020202020204" pitchFamily="34" charset="0"/>
              <a:buChar char="•"/>
            </a:pPr>
            <a:r>
              <a:rPr lang="en-IN" b="1" dirty="0"/>
              <a:t>Athlete Data Agent</a:t>
            </a:r>
            <a:r>
              <a:rPr lang="en-IN" dirty="0"/>
              <a:t> collects athlete profiles, training records, fitness metrics, wearable device data, and match statistics from multiple sources. </a:t>
            </a:r>
          </a:p>
          <a:p>
            <a:pPr marL="285750" indent="-285750">
              <a:buFont typeface="Arial" panose="020B0604020202020204" pitchFamily="34" charset="0"/>
              <a:buChar char="•"/>
            </a:pPr>
            <a:r>
              <a:rPr lang="en-IN" b="1" dirty="0"/>
              <a:t>Performance Analysis Agent</a:t>
            </a:r>
            <a:r>
              <a:rPr lang="en-IN" dirty="0"/>
              <a:t> evaluates historical and current performance, identifies strengths, weaknesses, performance trends, and improvement opportunities. </a:t>
            </a:r>
          </a:p>
          <a:p>
            <a:pPr marL="285750" indent="-285750">
              <a:buFont typeface="Arial" panose="020B0604020202020204" pitchFamily="34" charset="0"/>
              <a:buChar char="•"/>
            </a:pPr>
            <a:r>
              <a:rPr lang="en-IN" b="1" dirty="0"/>
              <a:t>Training Recommendation Agent</a:t>
            </a:r>
            <a:r>
              <a:rPr lang="en-IN" dirty="0"/>
              <a:t> generates personalized workout schedules, recovery strategies, endurance improvement plans, and injury prevention recommendations based on the athlete's performance patterns. </a:t>
            </a:r>
          </a:p>
          <a:p>
            <a:pPr marL="285750" indent="-285750">
              <a:buFont typeface="Arial" panose="020B0604020202020204" pitchFamily="34" charset="0"/>
              <a:buChar char="•"/>
            </a:pPr>
            <a:r>
              <a:rPr lang="en-IN" b="1" dirty="0"/>
              <a:t>Coaching Insight Agent</a:t>
            </a:r>
            <a:r>
              <a:rPr lang="en-IN" dirty="0"/>
              <a:t> creates comprehensive coaching reports, summarizes athlete progress, compares previous performances, and provides AI-powered recommendations for coaches. </a:t>
            </a:r>
          </a:p>
          <a:p>
            <a:r>
              <a:rPr lang="en-IN" dirty="0"/>
              <a:t>Agentic AI enables </a:t>
            </a:r>
            <a:r>
              <a:rPr lang="en-IN" b="1" dirty="0"/>
              <a:t>context-aware decision-making</a:t>
            </a:r>
            <a:r>
              <a:rPr lang="en-IN" dirty="0"/>
              <a:t> by understanding the athlete's sport, position, fitness level, training history, performance goals, and injury history. It continuously adapts recommendations whenever new performance data becomes available.</a:t>
            </a:r>
          </a:p>
          <a:p>
            <a:r>
              <a:rPr lang="en-IN" dirty="0"/>
              <a:t>Through </a:t>
            </a:r>
            <a:r>
              <a:rPr lang="en-IN" b="1" dirty="0"/>
              <a:t>Retrieval-Augmented Generation (RAG)</a:t>
            </a:r>
            <a:r>
              <a:rPr lang="en-IN" dirty="0"/>
              <a:t>, the agents retrieve relevant knowledge from trusted sports science documents, coaching manuals, and fitness guidelines, ensuring accurate and evidence-based recommendations.</a:t>
            </a:r>
          </a:p>
          <a:p>
            <a:r>
              <a:rPr lang="en-IN" dirty="0"/>
              <a:t>Overall, Agentic AI transforms the system into an intelligent digital performance coach that supports athletes and coaches with real-time analysis, personalized training plans, continuous monitoring, and data-driven decision-making to enhance athletic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2258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784251"/>
            <a:ext cx="11301984" cy="6124754"/>
          </a:xfrm>
          <a:prstGeom prst="rect">
            <a:avLst/>
          </a:prstGeom>
          <a:noFill/>
        </p:spPr>
        <p:txBody>
          <a:bodyPr wrap="square" rtlCol="0">
            <a:spAutoFit/>
          </a:bodyPr>
          <a:lstStyle/>
          <a:p>
            <a:r>
              <a:rPr lang="en-IN" sz="1800" dirty="0"/>
              <a:t>The proposed </a:t>
            </a:r>
            <a:r>
              <a:rPr lang="en-IN" sz="1800" b="1" dirty="0"/>
              <a:t>Athlete Performance Analysis Assistant</a:t>
            </a:r>
            <a:r>
              <a:rPr lang="en-IN" sz="1800" dirty="0"/>
              <a:t> stands out by combining </a:t>
            </a:r>
            <a:r>
              <a:rPr lang="en-IN" sz="1800" b="1" dirty="0"/>
              <a:t>Agentic AI, Retrieval-Augmented Generation (RAG), sports analytics, and personalized coaching</a:t>
            </a:r>
            <a:r>
              <a:rPr lang="en-IN" sz="1800" dirty="0"/>
              <a:t> into a single intelligent platform.</a:t>
            </a:r>
          </a:p>
          <a:p>
            <a:r>
              <a:rPr lang="en-IN" sz="1800" b="1" dirty="0"/>
              <a:t>Multi-Agent Intelligence</a:t>
            </a:r>
            <a:r>
              <a:rPr lang="en-IN" sz="1800" dirty="0"/>
              <a:t> – Instead of a single chatbot, multiple specialized agents collaborate to collect athlete data, </a:t>
            </a:r>
            <a:r>
              <a:rPr lang="en-IN" sz="1800" dirty="0" err="1"/>
              <a:t>analyze</a:t>
            </a:r>
            <a:r>
              <a:rPr lang="en-IN" sz="1800" dirty="0"/>
              <a:t> performance, generate personalized training recommendations, and create coaching reports. </a:t>
            </a:r>
          </a:p>
          <a:p>
            <a:r>
              <a:rPr lang="en-IN" sz="1800" b="1" dirty="0"/>
              <a:t>RAG-Based Performance Analysis</a:t>
            </a:r>
            <a:r>
              <a:rPr lang="en-IN" sz="1800" dirty="0"/>
              <a:t> – Integrates sports science research, coaching manuals, and fitness guidelines with AI reasoning to provide accurate, evidence-based recommendations. </a:t>
            </a:r>
          </a:p>
          <a:p>
            <a:r>
              <a:rPr lang="en-IN" sz="1800" b="1" dirty="0"/>
              <a:t>Personalized Training Plans</a:t>
            </a:r>
            <a:r>
              <a:rPr lang="en-IN" sz="1800" dirty="0"/>
              <a:t> – Creates customized workout schedules, recovery strategies, endurance improvement plans, and injury prevention recommendations based on each athlete's performance and goals. </a:t>
            </a:r>
          </a:p>
          <a:p>
            <a:r>
              <a:rPr lang="en-IN" sz="1800" b="1" dirty="0"/>
              <a:t>Performance Trend Analysis</a:t>
            </a:r>
            <a:r>
              <a:rPr lang="en-IN" sz="1800" dirty="0"/>
              <a:t> – Continuously monitors training records and match statistics to identify strengths, weaknesses, progress, and areas requiring improvement. </a:t>
            </a:r>
          </a:p>
          <a:p>
            <a:r>
              <a:rPr lang="en-IN" sz="1800" b="1" dirty="0"/>
              <a:t>Comprehensive Coaching Reports</a:t>
            </a:r>
            <a:r>
              <a:rPr lang="en-IN" sz="1800" dirty="0"/>
              <a:t> – Generates AI-powered summaries that help coaches make informed decisions through clear insights and performance comparisons. </a:t>
            </a:r>
          </a:p>
          <a:p>
            <a:r>
              <a:rPr lang="en-IN" sz="1800" b="1" dirty="0"/>
              <a:t>Data Visualization Dashboard</a:t>
            </a:r>
            <a:r>
              <a:rPr lang="en-IN" sz="1800" dirty="0"/>
              <a:t> – Presents athlete progress, fitness metrics, performance trends, and personalized recommendations using interactive charts and graphs. </a:t>
            </a:r>
          </a:p>
          <a:p>
            <a:r>
              <a:rPr lang="en-IN" sz="1800" b="1" dirty="0"/>
              <a:t>Scalable &amp; Enterprise-Ready</a:t>
            </a:r>
            <a:r>
              <a:rPr lang="en-IN" sz="1800" dirty="0"/>
              <a:t> – Built using </a:t>
            </a:r>
            <a:r>
              <a:rPr lang="en-IN" sz="1800" b="1" dirty="0"/>
              <a:t>IBM </a:t>
            </a:r>
            <a:r>
              <a:rPr lang="en-IN" sz="1800" b="1" dirty="0" err="1"/>
              <a:t>watsonx</a:t>
            </a:r>
            <a:r>
              <a:rPr lang="en-IN" sz="1800" b="1" dirty="0"/>
              <a:t> Orchestrate, IBM Granite Models, </a:t>
            </a:r>
            <a:r>
              <a:rPr lang="en-IN" sz="1800" b="1" dirty="0" err="1"/>
              <a:t>LangFlow</a:t>
            </a:r>
            <a:r>
              <a:rPr lang="en-IN" sz="1800" b="1" dirty="0"/>
              <a:t>, and IBM Cloud</a:t>
            </a:r>
            <a:r>
              <a:rPr lang="en-IN" sz="1800" dirty="0"/>
              <a:t>, ensuring a secure, scalable, and reliable AI solution. </a:t>
            </a:r>
          </a:p>
          <a:p>
            <a:r>
              <a:rPr lang="en-IN" sz="1800" b="1" dirty="0"/>
              <a:t>This makes the solution an intelligent digital performance coach that empowers athletes and coaches with real-time insights, personalized recommendations, and data-driven decision-making to enhance athletic performance.</a:t>
            </a:r>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4969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mn-lt"/>
                <a:ea typeface="Times New Roman"/>
                <a:cs typeface="Times New Roman"/>
                <a:sym typeface="Times New Roman"/>
              </a:rPr>
              <a:t>https://github.com/Archana-A-D/Athlete-Performance-Analysis-Assistant.git</a:t>
            </a:r>
            <a:endParaRPr sz="1850" b="0" i="0" u="none" strike="noStrike" cap="none" dirty="0">
              <a:solidFill>
                <a:srgbClr val="000000"/>
              </a:solidFill>
              <a:latin typeface="+mn-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Wearable Device Integration</a:t>
            </a:r>
            <a:br>
              <a:rPr lang="en-IN" sz="2000" dirty="0"/>
            </a:br>
            <a:r>
              <a:rPr lang="en-IN" sz="2000" dirty="0"/>
              <a:t>Integrate smartwatches and fitness trackers to collect real-time fitness data and provide more accurate performance analysis.</a:t>
            </a:r>
          </a:p>
          <a:p>
            <a:r>
              <a:rPr lang="en-IN" sz="2000" b="1" dirty="0"/>
              <a:t>2. Injury Prediction</a:t>
            </a:r>
            <a:br>
              <a:rPr lang="en-IN" sz="2000" dirty="0"/>
            </a:br>
            <a:r>
              <a:rPr lang="en-IN" sz="2000" dirty="0"/>
              <a:t>Use AI to predict injury risks based on training workload and performance history, helping athletes prevent injuries.</a:t>
            </a:r>
          </a:p>
          <a:p>
            <a:r>
              <a:rPr lang="en-IN" sz="2000" b="1" dirty="0"/>
              <a:t>3. Real-Time Match Analysis</a:t>
            </a:r>
            <a:br>
              <a:rPr lang="en-IN" sz="2000" dirty="0"/>
            </a:br>
            <a:r>
              <a:rPr lang="en-IN" sz="2000" dirty="0" err="1"/>
              <a:t>Analyze</a:t>
            </a:r>
            <a:r>
              <a:rPr lang="en-IN" sz="2000" dirty="0"/>
              <a:t> live match statistics and provide instant coaching insights and tactical recommendations.</a:t>
            </a:r>
          </a:p>
          <a:p>
            <a:r>
              <a:rPr lang="en-IN" sz="2000" b="1" dirty="0"/>
              <a:t>4. Personalized Nutrition &amp; Recovery</a:t>
            </a:r>
            <a:br>
              <a:rPr lang="en-IN" sz="2000" dirty="0"/>
            </a:br>
            <a:r>
              <a:rPr lang="en-IN" sz="2000" dirty="0"/>
              <a:t>Recommend customized nutrition plans and recovery strategies based on athlete performance and fitness goals.</a:t>
            </a:r>
          </a:p>
          <a:p>
            <a:r>
              <a:rPr lang="en-IN" sz="2000" b="1" dirty="0"/>
              <a:t>5. Team Performance Analytics</a:t>
            </a:r>
            <a:br>
              <a:rPr lang="en-IN" sz="2000" dirty="0"/>
            </a:br>
            <a:r>
              <a:rPr lang="en-IN" sz="2000" dirty="0"/>
              <a:t>Expand the system to compare player performance, </a:t>
            </a:r>
            <a:r>
              <a:rPr lang="en-IN" sz="2000" dirty="0" err="1"/>
              <a:t>analyze</a:t>
            </a:r>
            <a:r>
              <a:rPr lang="en-IN" sz="2000" dirty="0"/>
              <a:t> team statistics, and support coaching decisions.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800" b="1" dirty="0"/>
              <a:t>IBM </a:t>
            </a:r>
            <a:r>
              <a:rPr lang="en-IN" sz="2800" b="1" dirty="0" err="1"/>
              <a:t>Credly</a:t>
            </a:r>
            <a:r>
              <a:rPr lang="en-IN" sz="2800" b="1" dirty="0"/>
              <a:t> Certificate</a:t>
            </a:r>
            <a:endParaRPr lang="en-US" sz="2800" b="1" dirty="0"/>
          </a:p>
        </p:txBody>
      </p:sp>
      <p:pic>
        <p:nvPicPr>
          <p:cNvPr id="5" name="Picture 4">
            <a:extLst>
              <a:ext uri="{FF2B5EF4-FFF2-40B4-BE49-F238E27FC236}">
                <a16:creationId xmlns:a16="http://schemas.microsoft.com/office/drawing/2014/main" id="{103CFA04-2768-3CC9-F0C7-DAD5E43FA489}"/>
              </a:ext>
            </a:extLst>
          </p:cNvPr>
          <p:cNvPicPr>
            <a:picLocks noChangeAspect="1"/>
          </p:cNvPicPr>
          <p:nvPr/>
        </p:nvPicPr>
        <p:blipFill>
          <a:blip r:embed="rId2"/>
          <a:stretch>
            <a:fillRect/>
          </a:stretch>
        </p:blipFill>
        <p:spPr>
          <a:xfrm>
            <a:off x="2719583" y="1367169"/>
            <a:ext cx="6752834" cy="5125313"/>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2AAA3316-7174-97FC-224D-C32A3584D781}"/>
              </a:ext>
            </a:extLst>
          </p:cNvPr>
          <p:cNvPicPr>
            <a:picLocks noChangeAspect="1"/>
          </p:cNvPicPr>
          <p:nvPr/>
        </p:nvPicPr>
        <p:blipFill>
          <a:blip r:embed="rId2"/>
          <a:stretch>
            <a:fillRect/>
          </a:stretch>
        </p:blipFill>
        <p:spPr>
          <a:xfrm>
            <a:off x="1991053" y="1281603"/>
            <a:ext cx="8209893" cy="512270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1751</Words>
  <Application>Microsoft Office PowerPoint</Application>
  <PresentationFormat>Widescreen</PresentationFormat>
  <Paragraphs>117</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ARCHANA A D</cp:lastModifiedBy>
  <cp:revision>16</cp:revision>
  <dcterms:created xsi:type="dcterms:W3CDTF">2025-07-08T05:06:56Z</dcterms:created>
  <dcterms:modified xsi:type="dcterms:W3CDTF">2026-07-10T17:19:04Z</dcterms:modified>
</cp:coreProperties>
</file>